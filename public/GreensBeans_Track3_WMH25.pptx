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" charset="1" panose="00000000000000000000"/>
      <p:regular r:id="rId14"/>
    </p:embeddedFont>
    <p:embeddedFont>
      <p:font typeface="Raleway Bold" charset="1" panose="00000000000000000000"/>
      <p:regular r:id="rId15"/>
    </p:embeddedFont>
    <p:embeddedFont>
      <p:font typeface="Canva Sans" charset="1" panose="020B0503030501040103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Relationship Id="rId5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7.jpeg" Type="http://schemas.openxmlformats.org/officeDocument/2006/relationships/image"/><Relationship Id="rId5" Target="../media/image8.jpeg" Type="http://schemas.openxmlformats.org/officeDocument/2006/relationships/image"/><Relationship Id="rId6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6D78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96400" y="1562100"/>
            <a:ext cx="8324850" cy="6278919"/>
            <a:chOff x="0" y="0"/>
            <a:chExt cx="11099800" cy="8371892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171450"/>
              <a:ext cx="11099800" cy="67627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750"/>
                </a:lnSpc>
              </a:pPr>
              <a:r>
                <a:rPr lang="en-US" sz="975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Empowering Students for Environmental Impact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6984417"/>
              <a:ext cx="110998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Presented by </a:t>
              </a: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Campus Innovators</a:t>
              </a:r>
              <a:r>
                <a:rPr lang="en-US" sz="3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, Environmental Advocate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296400" y="9261475"/>
            <a:ext cx="6886575" cy="358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800"/>
              </a:lnSpc>
            </a:pPr>
            <a:r>
              <a:rPr lang="en-US" sz="20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November 22, 2025, Nairobi, Kenya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666750" y="666750"/>
            <a:ext cx="7191375" cy="8953500"/>
            <a:chOff x="0" y="0"/>
            <a:chExt cx="1036915" cy="129099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36915" cy="1290994"/>
            </a:xfrm>
            <a:custGeom>
              <a:avLst/>
              <a:gdLst/>
              <a:ahLst/>
              <a:cxnLst/>
              <a:rect r="r" b="b" t="t" l="l"/>
              <a:pathLst>
                <a:path h="1290994" w="1036915">
                  <a:moveTo>
                    <a:pt x="0" y="0"/>
                  </a:moveTo>
                  <a:lnTo>
                    <a:pt x="1036915" y="0"/>
                  </a:lnTo>
                  <a:lnTo>
                    <a:pt x="1036915" y="1290994"/>
                  </a:lnTo>
                  <a:lnTo>
                    <a:pt x="0" y="1290994"/>
                  </a:lnTo>
                  <a:close/>
                </a:path>
              </a:pathLst>
            </a:custGeom>
            <a:blipFill>
              <a:blip r:embed="rId2"/>
              <a:stretch>
                <a:fillRect l="0" t="-199" r="0" b="-199"/>
              </a:stretch>
            </a:blipFill>
            <a:ln w="19050" cap="sq">
              <a:solidFill>
                <a:srgbClr val="FFFFF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9296400" y="666750"/>
            <a:ext cx="5489342" cy="445682"/>
            <a:chOff x="0" y="0"/>
            <a:chExt cx="7319123" cy="594243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956381" y="104226"/>
              <a:ext cx="6362742" cy="4900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750"/>
                </a:lnSpc>
              </a:pPr>
              <a:r>
                <a:rPr lang="en-US" sz="25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GreenBeans</a:t>
              </a:r>
            </a:p>
          </p:txBody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94243" cy="594243"/>
            </a:xfrm>
            <a:custGeom>
              <a:avLst/>
              <a:gdLst/>
              <a:ahLst/>
              <a:cxnLst/>
              <a:rect r="r" b="b" t="t" l="l"/>
              <a:pathLst>
                <a:path h="594243" w="594243">
                  <a:moveTo>
                    <a:pt x="0" y="0"/>
                  </a:moveTo>
                  <a:lnTo>
                    <a:pt x="594243" y="0"/>
                  </a:lnTo>
                  <a:lnTo>
                    <a:pt x="594243" y="594243"/>
                  </a:lnTo>
                  <a:lnTo>
                    <a:pt x="0" y="594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42950"/>
            <a:ext cx="11201400" cy="2552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900"/>
              </a:lnSpc>
            </a:pPr>
            <a:r>
              <a:rPr lang="en-US" sz="90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Passion Without Connection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68188"/>
            <a:ext cx="5448300" cy="1477645"/>
            <a:chOff x="0" y="0"/>
            <a:chExt cx="7264400" cy="19701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Student Aspirations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Students seek meaningful </a:t>
              </a:r>
              <a:r>
                <a:rPr lang="en-US" b="true" sz="22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environmental projects</a:t>
              </a: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 to engage in positively.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09787" y="4268188"/>
            <a:ext cx="5448300" cy="1488687"/>
            <a:chOff x="0" y="0"/>
            <a:chExt cx="7264400" cy="198491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Engagement Challenges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Schools and NGOs struggle to </a:t>
              </a:r>
              <a:r>
                <a:rPr lang="en-US" b="true" sz="22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effectively engage students</a:t>
              </a: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 in projects.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76901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2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6A3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750" y="6945736"/>
            <a:ext cx="5448300" cy="1477645"/>
            <a:chOff x="0" y="0"/>
            <a:chExt cx="7264400" cy="19701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Initiative Limitations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Local environmental initiatives often lack </a:t>
              </a:r>
              <a:r>
                <a:rPr lang="en-US" b="true" sz="22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scale and measurable impact</a:t>
              </a: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09787" y="6934694"/>
            <a:ext cx="5448300" cy="1488687"/>
            <a:chOff x="0" y="0"/>
            <a:chExt cx="7264400" cy="198491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Connection Gaps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Opportunities for collaboration are often </a:t>
              </a:r>
              <a:r>
                <a:rPr lang="en-US" b="true" sz="22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disorganized and fragmented</a:t>
              </a: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B6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66750" y="714375"/>
            <a:ext cx="11201400" cy="20237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7808"/>
              </a:lnSpc>
            </a:pPr>
            <a:r>
              <a:rPr lang="en-US" sz="7098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GreenBeans – The Student Environmental Hub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66750" y="4268188"/>
            <a:ext cx="5448300" cy="1477645"/>
            <a:chOff x="0" y="0"/>
            <a:chExt cx="7264400" cy="1970193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Student Participation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GreenBeans enables students to engage in verified projects.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309787" y="4268188"/>
            <a:ext cx="5448300" cy="1488687"/>
            <a:chOff x="0" y="0"/>
            <a:chExt cx="7264400" cy="198491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Verified Events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Schools and NGOs can easily post approved engagement activities.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376901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3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6A3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666750" y="6945736"/>
            <a:ext cx="5448300" cy="1477645"/>
            <a:chOff x="0" y="0"/>
            <a:chExt cx="7264400" cy="197019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Recognized Participation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0" y="955675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Participation is acknowledged through certificates and achievement badges.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09787" y="6934694"/>
            <a:ext cx="5448300" cy="1488687"/>
            <a:chOff x="0" y="0"/>
            <a:chExt cx="7264400" cy="1984916"/>
          </a:xfrm>
        </p:grpSpPr>
        <p:sp>
          <p:nvSpPr>
            <p:cNvPr name="TextBox 16" id="16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3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Reward System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0" y="970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Gamification encourages ongoing student involvement and motivation.</a:t>
              </a:r>
            </a:p>
          </p:txBody>
        </p:sp>
      </p:grpSp>
      <p:sp>
        <p:nvSpPr>
          <p:cNvPr name="Freeform 18" id="18"/>
          <p:cNvSpPr/>
          <p:nvPr/>
        </p:nvSpPr>
        <p:spPr>
          <a:xfrm flipH="false" flipV="false" rot="8410794">
            <a:off x="14883321" y="-3075217"/>
            <a:ext cx="7440338" cy="5072958"/>
          </a:xfrm>
          <a:custGeom>
            <a:avLst/>
            <a:gdLst/>
            <a:ahLst/>
            <a:cxnLst/>
            <a:rect r="r" b="b" t="t" l="l"/>
            <a:pathLst>
              <a:path h="5072958" w="7440338">
                <a:moveTo>
                  <a:pt x="0" y="0"/>
                </a:moveTo>
                <a:lnTo>
                  <a:pt x="7440338" y="0"/>
                </a:lnTo>
                <a:lnTo>
                  <a:pt x="7440338" y="5072958"/>
                </a:lnTo>
                <a:lnTo>
                  <a:pt x="0" y="507295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429875" y="666750"/>
            <a:ext cx="7191375" cy="8058150"/>
            <a:chOff x="0" y="0"/>
            <a:chExt cx="1114132" cy="124841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14132" cy="1248418"/>
            </a:xfrm>
            <a:custGeom>
              <a:avLst/>
              <a:gdLst/>
              <a:ahLst/>
              <a:cxnLst/>
              <a:rect r="r" b="b" t="t" l="l"/>
              <a:pathLst>
                <a:path h="1248418" w="1114132">
                  <a:moveTo>
                    <a:pt x="0" y="0"/>
                  </a:moveTo>
                  <a:lnTo>
                    <a:pt x="1114132" y="0"/>
                  </a:lnTo>
                  <a:lnTo>
                    <a:pt x="1114132" y="1248418"/>
                  </a:lnTo>
                  <a:lnTo>
                    <a:pt x="0" y="1248418"/>
                  </a:lnTo>
                  <a:close/>
                </a:path>
              </a:pathLst>
            </a:custGeom>
            <a:blipFill>
              <a:blip r:embed="rId2"/>
              <a:stretch>
                <a:fillRect l="0" t="-66" r="0" b="-66"/>
              </a:stretch>
            </a:blipFill>
            <a:ln w="19050" cap="sq">
              <a:solidFill>
                <a:srgbClr val="99885D"/>
              </a:solidFill>
              <a:prstDash val="solid"/>
              <a:miter/>
            </a:ln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9612" cy="7086158"/>
            <a:chOff x="0" y="0"/>
            <a:chExt cx="11106150" cy="9448210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-66675"/>
              <a:ext cx="110998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Kenya’s student population presents a </a:t>
              </a: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huge opportunity</a:t>
              </a:r>
              <a:r>
                <a:rPr lang="en-US" sz="3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 for engagement.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6350" y="2454239"/>
              <a:ext cx="11099800" cy="15415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772"/>
                </a:lnSpc>
              </a:pPr>
              <a:r>
                <a:rPr lang="en-US" sz="7974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7 million students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6350" y="4005329"/>
              <a:ext cx="110998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Total Addressable Market for environmental projects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350" y="6421504"/>
              <a:ext cx="11099800" cy="30267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09"/>
                </a:lnSpc>
              </a:pPr>
              <a:r>
                <a:rPr lang="en-US" sz="2007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With </a:t>
              </a:r>
              <a:r>
                <a:rPr lang="en-US" b="true" sz="2007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7 million students</a:t>
              </a:r>
              <a:r>
                <a:rPr lang="en-US" sz="2007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 across the country, the potential for environmental engagement is vast. Among them, 2 million students and 1,000 active schools and NGOs represent significant opportunities for participation. The goal is to reach 500,000 targeted students in the next 1-2 years through the GreenBeans platform. By harnessing this large market, we can create impactful change in environmental sustainability and empower the next generation of changemakers.</a:t>
              </a: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4</a:t>
            </a:r>
          </a:p>
        </p:txBody>
      </p:sp>
      <p:sp>
        <p:nvSpPr>
          <p:cNvPr name="AutoShape 10" id="10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6A3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B6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6A3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71512" y="1729818"/>
            <a:ext cx="13208441" cy="2249148"/>
            <a:chOff x="0" y="0"/>
            <a:chExt cx="17611255" cy="29988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Simple, Scalable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22589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A Friendly Platform for Engagement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1512" y="5143500"/>
            <a:ext cx="4005262" cy="3401060"/>
            <a:chOff x="0" y="0"/>
            <a:chExt cx="5340350" cy="453474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5340350" cy="3369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Students can easily discover and join various environmental events, promoting direct involvement in sustainability initiatives while fostering a sense of community and shared purpose.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534035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Discover Events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19850" y="5143500"/>
            <a:ext cx="4010025" cy="3401060"/>
            <a:chOff x="0" y="0"/>
            <a:chExt cx="5346700" cy="453474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165225"/>
              <a:ext cx="5346700" cy="3369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Schools and NGOs can post verified projects to engage students effectively, ensuring that opportunities are accessible and well-coordinated to maximize participation and impact.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534670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Partner Projects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87642" y="5152390"/>
            <a:ext cx="3995333" cy="3763010"/>
            <a:chOff x="0" y="0"/>
            <a:chExt cx="5327111" cy="501734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65225"/>
              <a:ext cx="5327111" cy="38521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Gamification elements such as points, badges, and rewards motivate ongoing engagement, tracking participation to enhance student commitment and highlight their contributions to environmental causes.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5327111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Gamification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357080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6A3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4" id="4"/>
          <p:cNvGraphicFramePr>
            <a:graphicFrameLocks noGrp="true"/>
          </p:cNvGraphicFramePr>
          <p:nvPr/>
        </p:nvGraphicFramePr>
        <p:xfrm>
          <a:off x="1431704" y="1843865"/>
          <a:ext cx="14923839" cy="5097807"/>
        </p:xfrm>
        <a:graphic>
          <a:graphicData uri="http://schemas.openxmlformats.org/drawingml/2006/table">
            <a:tbl>
              <a:tblPr/>
              <a:tblGrid>
                <a:gridCol w="4675339"/>
                <a:gridCol w="6628912"/>
                <a:gridCol w="3619588"/>
              </a:tblGrid>
              <a:tr h="815152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Competitors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Raleway Bold"/>
                          <a:ea typeface="Raleway Bold"/>
                          <a:cs typeface="Raleway Bold"/>
                          <a:sym typeface="Raleway Bold"/>
                        </a:rPr>
                        <a:t>what they do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How we are different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75871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Greenwatch Kenya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Shares environmental news &amp; campaigns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GreenBeans is interactive and student-focused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036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Kenya Green Building Society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Promotes sustainable building &amp; training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GreenBeans is peer-to-peer and gamified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2031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TreeSisters / Plant-for-the-Planet Kenya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Tree planting campaigns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Raleway"/>
                          <a:ea typeface="Raleway"/>
                          <a:cs typeface="Raleway"/>
                          <a:sym typeface="Raleway"/>
                        </a:rPr>
                        <a:t>GreenBeans tracks action digitally with clubs &amp; challenges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5" id="5"/>
          <p:cNvSpPr txBox="true"/>
          <p:nvPr/>
        </p:nvSpPr>
        <p:spPr>
          <a:xfrm rot="0">
            <a:off x="2105025" y="695325"/>
            <a:ext cx="14077950" cy="730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500"/>
              </a:lnSpc>
            </a:pPr>
            <a:r>
              <a:rPr lang="en-US" sz="5000" strike="noStrike" u="none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Collaborating for Greater Environmental Impact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2105025" y="7359963"/>
            <a:ext cx="5448300" cy="1364937"/>
            <a:chOff x="0" y="0"/>
            <a:chExt cx="7264400" cy="181991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 strike="noStrike" u="none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Partners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805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 strike="noStrike" u="none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GreenBeans collaborates with diverse environmental organizations.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733423" y="7359963"/>
            <a:ext cx="5448300" cy="1364937"/>
            <a:chOff x="0" y="0"/>
            <a:chExt cx="7264400" cy="1819916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9050"/>
              <a:ext cx="7264400" cy="5905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300"/>
                </a:lnSpc>
              </a:pPr>
              <a:r>
                <a:rPr lang="en-US" b="true" sz="3000" strike="noStrike" u="none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Competition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0" y="805398"/>
              <a:ext cx="7264400" cy="10145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 marL="0" indent="0" lvl="0">
                <a:lnSpc>
                  <a:spcPts val="3080"/>
                </a:lnSpc>
              </a:pPr>
              <a:r>
                <a:rPr lang="en-US" sz="2200" strike="noStrike" u="none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Our unique advantages set us apart from others.</a:t>
              </a: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7359380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BB66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6A3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750" y="666750"/>
            <a:ext cx="13208441" cy="2249148"/>
            <a:chOff x="0" y="0"/>
            <a:chExt cx="17611255" cy="299886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76200"/>
              <a:ext cx="17611255" cy="17526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Fast Adoption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322589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Engaging Students through Strategic Focus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1512" y="5143500"/>
            <a:ext cx="4005262" cy="3401060"/>
            <a:chOff x="0" y="0"/>
            <a:chExt cx="5340350" cy="4534747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165225"/>
              <a:ext cx="5340350" cy="3369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We will target universities and high schools in urban centers, establishing connections and partnerships to maximize student engagement in environmental initiatives throughout the region.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-66675"/>
              <a:ext cx="5340350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University Outreach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419850" y="5143500"/>
            <a:ext cx="4010025" cy="3934460"/>
            <a:chOff x="0" y="0"/>
            <a:chExt cx="5346700" cy="5245947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1876425"/>
              <a:ext cx="5346700" cy="3369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Utilizing campus ambassadors allows us to foster community and drive awareness, as they can promote GreenBeans’ initiatives while engaging their peers in environmental action and participation.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66675"/>
              <a:ext cx="5346700" cy="13874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Campus Ambassadors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2187642" y="5152390"/>
            <a:ext cx="3995333" cy="3401060"/>
            <a:chOff x="0" y="0"/>
            <a:chExt cx="5327111" cy="4534747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1165225"/>
              <a:ext cx="5327111" cy="3369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Our approach includes a scalable model that allows for expansion into other counties, ultimately aiming for a nationwide presence and collaborative partnerships with multiple schools and NGOs.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66675"/>
              <a:ext cx="5327111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b="true" sz="30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Nationwide Scaling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357080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9E8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431704" y="9610725"/>
            <a:ext cx="15624461" cy="0"/>
          </a:xfrm>
          <a:prstGeom prst="line">
            <a:avLst/>
          </a:prstGeom>
          <a:ln cap="flat" w="19050">
            <a:solidFill>
              <a:srgbClr val="4A6A3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671512" y="9387884"/>
            <a:ext cx="445682" cy="445682"/>
          </a:xfrm>
          <a:custGeom>
            <a:avLst/>
            <a:gdLst/>
            <a:ahLst/>
            <a:cxnLst/>
            <a:rect r="r" b="b" t="t" l="l"/>
            <a:pathLst>
              <a:path h="445682" w="445682">
                <a:moveTo>
                  <a:pt x="0" y="0"/>
                </a:moveTo>
                <a:lnTo>
                  <a:pt x="445683" y="0"/>
                </a:lnTo>
                <a:lnTo>
                  <a:pt x="445683" y="445682"/>
                </a:lnTo>
                <a:lnTo>
                  <a:pt x="0" y="445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998880" y="6359710"/>
            <a:ext cx="1874179" cy="1874179"/>
            <a:chOff x="0" y="0"/>
            <a:chExt cx="812800" cy="812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-25046" t="0" r="-25046" b="0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4928905" y="6163103"/>
            <a:ext cx="2070786" cy="2070786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48039" r="0" b="-4803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8056965" y="6175765"/>
            <a:ext cx="2058124" cy="2058124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1796" r="0" b="-31796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666750" y="666750"/>
            <a:ext cx="13208441" cy="4639310"/>
            <a:chOff x="0" y="0"/>
            <a:chExt cx="17611255" cy="6185746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76200"/>
              <a:ext cx="17611255" cy="34290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900"/>
                </a:lnSpc>
              </a:pPr>
              <a:r>
                <a:rPr lang="en-US" sz="9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Turning Passion into Action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3997325"/>
              <a:ext cx="17611255" cy="6762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200"/>
                </a:lnSpc>
              </a:pPr>
              <a:r>
                <a:rPr lang="en-US" sz="30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Empowering Students for Environmental Sustainability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5229225"/>
              <a:ext cx="17611255" cy="95652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60"/>
                </a:lnSpc>
              </a:pP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GreenBeans aims to </a:t>
              </a:r>
              <a:r>
                <a:rPr lang="en-US" b="true" sz="2200">
                  <a:solidFill>
                    <a:srgbClr val="4A6A39"/>
                  </a:solidFill>
                  <a:latin typeface="Raleway Bold"/>
                  <a:ea typeface="Raleway Bold"/>
                  <a:cs typeface="Raleway Bold"/>
                  <a:sym typeface="Raleway Bold"/>
                </a:rPr>
                <a:t>empower students</a:t>
              </a:r>
              <a:r>
                <a:rPr lang="en-US" sz="2200">
                  <a:solidFill>
                    <a:srgbClr val="4A6A39"/>
                  </a:solidFill>
                  <a:latin typeface="Raleway"/>
                  <a:ea typeface="Raleway"/>
                  <a:cs typeface="Raleway"/>
                  <a:sym typeface="Raleway"/>
                </a:rPr>
                <a:t> as environmental changemakers, fostering a culture of sustainable action while providing measurable impact data for schools and NGOs throughout Kenya.</a:t>
              </a: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7485343" y="9412274"/>
            <a:ext cx="152400" cy="209550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97473" y="8746799"/>
            <a:ext cx="253365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Alicia Mbatha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056965" y="8702597"/>
            <a:ext cx="253365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Harriet Wambura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998880" y="8746799"/>
            <a:ext cx="1631950" cy="38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80"/>
              </a:lnSpc>
              <a:spcBef>
                <a:spcPct val="0"/>
              </a:spcBef>
            </a:pPr>
            <a:r>
              <a:rPr lang="en-US" sz="2200">
                <a:solidFill>
                  <a:srgbClr val="4A6A39"/>
                </a:solidFill>
                <a:latin typeface="Raleway"/>
                <a:ea typeface="Raleway"/>
                <a:cs typeface="Raleway"/>
                <a:sym typeface="Raleway"/>
              </a:rPr>
              <a:t>Francis Auka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Empowering Students for Environmental Impact</dc:description>
  <dc:identifier>DAG5guVqIN0</dc:identifier>
  <dcterms:modified xsi:type="dcterms:W3CDTF">2011-08-01T06:04:30Z</dcterms:modified>
  <cp:revision>1</cp:revision>
  <dc:title>Presentation - Empowering Students for Environmental Impact</dc:title>
</cp:coreProperties>
</file>